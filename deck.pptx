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Elite Four Capital board briefing on the political prediction-market strategy, using Jon Ossoff 2028 as the worked example. All prices live 16 Jul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Foundational idea: price = implied probability. Everything downstream is finding where that price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instruments; the tension between them is the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Cleanest edge: a logical certainty. Violated = arbitrage; otherwise a data-integrity 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Relative-value core. Not a bet on Ossoff winning; a bet the conditional general-win is mispriced.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Cross-venue + overround. Not a locked arb; a soft convergence lean that decays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 = coeff × price × (1−price). As % of stake = coeff×(1−price), worst on longshots.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Convergence: nomination decided on primary calendar, ~3 months before settlement. Trade the re-rating.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All-in optimizer; the recommended venue flips with the gap. Kalshi safety/tax premium.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Regulation/counterparty + single-factor concentration. Kalshi safer, Polymarket cheaper.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 in one slide; full detail in the white paper. Capital-gains default, earned by conduct.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philosophy: a pricing-and-discipline business, not political punting.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700" kern="0" dirty="0">
                <a:solidFill>
                  <a:srgbClr val="C99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FOUR CAPITAL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Trading Political Probabilities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58368" y="2971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5F1E8"/>
                </a:solidFill>
              </a:rPr>
              <a:t>Turning election odds into disciplined, fee- and tax-aware trades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40233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21A2B"/>
          </a:solidFill>
          <a:ln w="12700">
            <a:solidFill>
              <a:srgbClr val="C99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160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14¢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4956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1E8"/>
                </a:solidFill>
              </a:rPr>
              <a:t>Ossoff nomination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40233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21A2B"/>
          </a:solidFill>
          <a:ln w="12700">
            <a:solidFill>
              <a:srgbClr val="C99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4160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7¢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389120" y="4956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1E8"/>
                </a:solidFill>
              </a:rPr>
              <a:t>Ossoff presidency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40233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21A2B"/>
          </a:solidFill>
          <a:ln w="12700">
            <a:solidFill>
              <a:srgbClr val="C99A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4160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~52%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092440" y="4956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1E8"/>
                </a:solidFill>
              </a:rPr>
              <a:t>implied 'if nominated, wins'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3"/>
                </a:solidFill>
              </a:rPr>
              <a:t>Board briefing · Layman's version · July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actually trade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121D"/>
                </a:solidFill>
              </a:rPr>
              <a:t>A prediction market is a contract that pays $1 if something happens, $0 if it doesn't.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8F2D2D"/>
                </a:solidFill>
              </a:rPr>
              <a:t>So the price IS the probability.</a:t>
            </a:r>
            <a:endParaRPr lang="en-US" sz="17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17121D"/>
                </a:solidFill>
              </a:rPr>
              <a:t>A 14¢ price = the market thinks ~14% chance.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7121D"/>
                </a:solidFill>
              </a:rPr>
              <a:t>Buy at 14¢; if it happens it pays $1 — about 7×. If not, $0.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383280" cy="4114800"/>
          </a:xfrm>
          <a:prstGeom prst="roundRect">
            <a:avLst>
              <a:gd name="adj" fmla="val 3784"/>
            </a:avLst>
          </a:prstGeom>
          <a:solidFill>
            <a:srgbClr val="F1EDE2"/>
          </a:solidFill>
          <a:ln w="12700">
            <a:solidFill>
              <a:srgbClr val="C99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91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1D"/>
                </a:solidFill>
              </a:rPr>
              <a:t>BUY 1 @ 14¢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49640" y="228600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E4F0E9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2395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121D"/>
                </a:solidFill>
              </a:rPr>
              <a:t>It happens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49640" y="27249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+$0.86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549640" y="370332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6E4E0"/>
          </a:solidFill>
          <a:ln w="12700">
            <a:solidFill>
              <a:srgbClr val="8F2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3813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121D"/>
                </a:solidFill>
              </a:rPr>
              <a:t>It doesn't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49640" y="4142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F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−$0.14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markets on one politician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931920"/>
          </a:xfrm>
          <a:prstGeom prst="roundRect">
            <a:avLst>
              <a:gd name="adj" fmla="val 3636"/>
            </a:avLst>
          </a:prstGeom>
          <a:solidFill>
            <a:srgbClr val="F1EDE2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7121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NOMINATION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14¢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7121D"/>
                </a:solidFill>
              </a:rPr>
              <a:t>Will he be the Democrats' pick?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F6A63"/>
                </a:solidFill>
              </a:rPr>
              <a:t>Nov 2028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20440" cy="3931920"/>
          </a:xfrm>
          <a:prstGeom prst="roundRect">
            <a:avLst>
              <a:gd name="adj" fmla="val 3636"/>
            </a:avLst>
          </a:prstGeom>
          <a:solidFill>
            <a:srgbClr val="F1EDE2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82880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C99A3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288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21D"/>
                </a:solidFill>
              </a:rPr>
              <a:t>PRESIDENCY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24231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7¢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663440" y="3474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7121D"/>
                </a:solidFill>
              </a:rPr>
              <a:t>Will he win the White House?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63440" y="4892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F6A63"/>
                </a:solidFill>
              </a:rPr>
              <a:t>Nov 2028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520440" cy="3931920"/>
          </a:xfrm>
          <a:prstGeom prst="roundRect">
            <a:avLst>
              <a:gd name="adj" fmla="val 3636"/>
            </a:avLst>
          </a:prstGeom>
          <a:solidFill>
            <a:srgbClr val="F1EDE2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82880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6F6A63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8288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24231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F6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~85¢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458200" y="3474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7121D"/>
                </a:solidFill>
              </a:rPr>
              <a:t>Will he keep his Georgia seat?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58200" y="4892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F6A63"/>
                </a:solidFill>
              </a:rPr>
              <a:t>Nov 2026 · thin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2D2D"/>
                </a:solidFill>
              </a:rPr>
              <a:t>The prices between these have to obey rules — and sometimes they don't. That's the opening.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 1 — the impossible price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7121D"/>
                </a:solidFill>
              </a:rPr>
              <a:t>To win the White House he must first win the nomination.</a:t>
            </a:r>
            <a:endParaRPr lang="en-US" sz="18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8F2D2D"/>
                </a:solidFill>
              </a:rPr>
              <a:t>So 'wins presidency' can NEVER beat 'wins nomination.'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7121D"/>
                </a:solidFill>
              </a:rPr>
              <a:t>If presidency ever prices above nomination, it's free money — buy the cheap one, sell the rich one.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17121D"/>
                </a:solidFill>
              </a:rPr>
              <a:t>A stale feed briefly showed exactly this.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7121D"/>
                </a:solidFill>
              </a:rPr>
              <a:t>We now watch the rule 24/7 — it doubles as a data-error alarm.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80960" y="1554480"/>
            <a:ext cx="3931920" cy="3931920"/>
          </a:xfrm>
          <a:prstGeom prst="roundRect">
            <a:avLst>
              <a:gd name="adj" fmla="val 3256"/>
            </a:avLst>
          </a:prstGeom>
          <a:solidFill>
            <a:srgbClr val="17121D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9A3F"/>
                </a:solidFill>
              </a:rPr>
              <a:t>THE RULE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Presidency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6384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86384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Nomination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863840" y="4754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B4F"/>
                </a:solidFill>
              </a:rPr>
              <a:t>7¢  ≤  14¢   ✓ today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 2 — the ~52% that looks too high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21D"/>
                </a:solidFill>
              </a:rPr>
              <a:t>Divide the two prices and the market is quietly saying: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1EDE2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~52%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7614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121D"/>
                </a:solidFill>
              </a:rPr>
              <a:t>chance he wins the general IF he's the nominee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87452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8F2D2D"/>
                </a:solidFill>
              </a:rPr>
              <a:t>Debatable for a first-term senator.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7121D"/>
                </a:solidFill>
              </a:rPr>
              <a:t>The Wedge: back him to be nominated, bet against winning it all.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i="1" dirty="0">
                <a:solidFill>
                  <a:srgbClr val="6F6A63"/>
                </a:solidFill>
              </a:rPr>
              <a:t>(If you think that number is too LOW, do the opposite — buy the presidency.)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F2FBF6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690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F6B4F"/>
                </a:solidFill>
              </a:rPr>
              <a:t>The Wedge pays off in one world — nominated but loses.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7121D"/>
                </a:solidFill>
              </a:rPr>
              <a:t>Market prices that at ~5¢; our model says 6–8¢. It's hedged — it doesn't need him to win.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 3 — same bet, two prices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21D"/>
                </a:solidFill>
              </a:rPr>
              <a:t>The identical contract trades on two exchanges at different prices — Kalshi usually higher.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188720" y="2103120"/>
            <a:ext cx="3931920" cy="2286000"/>
          </a:xfrm>
          <a:prstGeom prst="roundRect">
            <a:avLst>
              <a:gd name="adj" fmla="val 5600"/>
            </a:avLst>
          </a:prstGeom>
          <a:solidFill>
            <a:srgbClr val="F1EDE2"/>
          </a:solidFill>
          <a:ln w="25400">
            <a:solidFill>
              <a:srgbClr val="C99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17121D"/>
                </a:solidFill>
              </a:rPr>
              <a:t>POLYMARKET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2697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12¢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188720" y="3794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F6B4F"/>
                </a:solidFill>
              </a:rPr>
              <a:t>cheaper — we buy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3931920" cy="2286000"/>
          </a:xfrm>
          <a:prstGeom prst="roundRect">
            <a:avLst>
              <a:gd name="adj" fmla="val 5600"/>
            </a:avLst>
          </a:prstGeom>
          <a:solidFill>
            <a:srgbClr val="F1EDE2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17121D"/>
                </a:solidFill>
              </a:rPr>
              <a:t>KALSHI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26480" y="2697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F6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15¢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126480" y="3794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F6A63"/>
                </a:solidFill>
              </a:rPr>
              <a:t>richer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i="1" dirty="0">
                <a:solidFill>
                  <a:srgbClr val="8F2D2D"/>
                </a:solidFill>
              </a:rPr>
              <a:t>Why? Kalshi lists each candidate separately, summing to ~105% (a 5-pt house margin). Polymarket links the field to ~100%. The gap is biggest on longshots — and perishable: Ossoff's reversed intraday.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fees — small, but they compound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7121D"/>
                </a:solidFill>
              </a:rPr>
              <a:t>Both charge: price + a taker fee. Kalshi's coefficient is 0.07, Polymarket's 0.04 — nearly double. Makers (resting limit orders) pay zero.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2D2D"/>
                </a:solidFill>
              </a:rPr>
              <a:t>Fee as % of your stake — worst on cheap longshots: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64240" cy="548640"/>
          </a:xfrm>
          <a:prstGeom prst="rect">
            <a:avLst/>
          </a:prstGeom>
          <a:solidFill>
            <a:srgbClr val="17121D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0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Contract price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33672" y="2743200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Kalshi fee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18704" y="2743200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Polymarket fee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1064240" cy="548640"/>
          </a:xfrm>
          <a:prstGeom prst="rect">
            <a:avLst/>
          </a:prstGeom>
          <a:solidFill>
            <a:srgbClr val="F1EDE2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10128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21D"/>
                </a:solidFill>
              </a:rPr>
              <a:t>3¢ (deep longshot)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33672" y="3310128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2D2D"/>
                </a:solidFill>
              </a:rPr>
              <a:t>6.8%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18704" y="3310128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6B4F"/>
                </a:solidFill>
              </a:rPr>
              <a:t>3.9%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11064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77056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21D"/>
                </a:solidFill>
              </a:rPr>
              <a:t>14¢ (Ossoff)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33672" y="3877056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2D2D"/>
                </a:solidFill>
              </a:rPr>
              <a:t>6.0%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18704" y="3877056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6B4F"/>
                </a:solidFill>
              </a:rPr>
              <a:t>3.4%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443984"/>
            <a:ext cx="11064240" cy="548640"/>
          </a:xfrm>
          <a:prstGeom prst="rect">
            <a:avLst/>
          </a:prstGeom>
          <a:solidFill>
            <a:srgbClr val="F1EDE2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43984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21D"/>
                </a:solidFill>
              </a:rPr>
              <a:t>50¢ (toss-up)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33672" y="4443984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2D2D"/>
                </a:solidFill>
              </a:rPr>
              <a:t>3.5%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18704" y="4443984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6B4F"/>
                </a:solidFill>
              </a:rPr>
              <a:t>2.0%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010912"/>
            <a:ext cx="11064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010912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21D"/>
                </a:solidFill>
              </a:rPr>
              <a:t>90¢ (favorite)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33672" y="5010912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2D2D"/>
                </a:solidFill>
              </a:rPr>
              <a:t>0.7%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18704" y="5010912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6B4F"/>
                </a:solidFill>
              </a:rPr>
              <a:t>0.4%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6A63"/>
                </a:solidFill>
              </a:rPr>
              <a:t>On a cheap longshot you can pay ~6% in fees alone on Kalshi — before the overround.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Timing — it's decided long before it pays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7121D"/>
                </a:solidFill>
              </a:rPr>
              <a:t>The nomination settles in Nov 2028, but the real decision is the primary calendar. 'Yes' climbs to ~99¢ as it becomes clear — sell into that, don't wait.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325880" y="3099816"/>
            <a:ext cx="1783080" cy="27432"/>
          </a:xfrm>
          <a:prstGeom prst="rect">
            <a:avLst/>
          </a:prstGeom>
          <a:solidFill>
            <a:srgbClr val="D9D0BD"/>
          </a:solidFill>
          <a:ln/>
        </p:spPr>
      </p:sp>
      <p:sp>
        <p:nvSpPr>
          <p:cNvPr id="5" name="Shape 3"/>
          <p:cNvSpPr/>
          <p:nvPr/>
        </p:nvSpPr>
        <p:spPr>
          <a:xfrm>
            <a:off x="1170432" y="2999232"/>
            <a:ext cx="237744" cy="237744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A63"/>
                </a:solidFill>
              </a:rPr>
              <a:t>Now Jul '26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Wide open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6B4F"/>
                </a:solidFill>
              </a:rPr>
              <a:t>~14¢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3099816"/>
            <a:ext cx="1783080" cy="27432"/>
          </a:xfrm>
          <a:prstGeom prst="rect">
            <a:avLst/>
          </a:prstGeom>
          <a:solidFill>
            <a:srgbClr val="D9D0BD"/>
          </a:solidFill>
          <a:ln/>
        </p:spPr>
      </p:sp>
      <p:sp>
        <p:nvSpPr>
          <p:cNvPr id="10" name="Shape 8"/>
          <p:cNvSpPr/>
          <p:nvPr/>
        </p:nvSpPr>
        <p:spPr>
          <a:xfrm>
            <a:off x="3410712" y="2999232"/>
            <a:ext cx="237744" cy="237744"/>
          </a:xfrm>
          <a:prstGeom prst="ellipse">
            <a:avLst/>
          </a:prstGeom>
          <a:solidFill>
            <a:srgbClr val="17121D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A63"/>
                </a:solidFill>
              </a:rPr>
              <a:t>Feb–Jun '28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0604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6B4F"/>
                </a:solidFill>
              </a:rPr>
              <a:t>steps up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06440" y="3099816"/>
            <a:ext cx="1783080" cy="27432"/>
          </a:xfrm>
          <a:prstGeom prst="rect">
            <a:avLst/>
          </a:prstGeom>
          <a:solidFill>
            <a:srgbClr val="D9D0B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50992" y="2999232"/>
            <a:ext cx="237744" cy="237744"/>
          </a:xfrm>
          <a:prstGeom prst="ellipse">
            <a:avLst/>
          </a:prstGeom>
          <a:solidFill>
            <a:srgbClr val="17121D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A63"/>
                </a:solidFill>
              </a:rPr>
              <a:t>Spring '28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Clinches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6B4F"/>
                </a:solidFill>
              </a:rPr>
              <a:t>~90¢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099816"/>
            <a:ext cx="1783080" cy="27432"/>
          </a:xfrm>
          <a:prstGeom prst="rect">
            <a:avLst/>
          </a:prstGeom>
          <a:solidFill>
            <a:srgbClr val="D9D0BD"/>
          </a:solidFill>
          <a:ln/>
        </p:spPr>
      </p:sp>
      <p:sp>
        <p:nvSpPr>
          <p:cNvPr id="20" name="Shape 18"/>
          <p:cNvSpPr/>
          <p:nvPr/>
        </p:nvSpPr>
        <p:spPr>
          <a:xfrm>
            <a:off x="7891272" y="2999232"/>
            <a:ext cx="237744" cy="237744"/>
          </a:xfrm>
          <a:prstGeom prst="ellipse">
            <a:avLst/>
          </a:prstGeom>
          <a:solidFill>
            <a:srgbClr val="17121D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A63"/>
                </a:solidFill>
              </a:rPr>
              <a:t>Aug '28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8660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6B4F"/>
                </a:solidFill>
              </a:rPr>
              <a:t>~99¢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131552" y="2999232"/>
            <a:ext cx="237744" cy="237744"/>
          </a:xfrm>
          <a:prstGeom prst="ellipse">
            <a:avLst/>
          </a:prstGeom>
          <a:solidFill>
            <a:srgbClr val="17121D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A63"/>
                </a:solidFill>
              </a:rPr>
              <a:t>Nov '28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2688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6B4F"/>
                </a:solidFill>
              </a:rPr>
              <a:t>$1.00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1EDE2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F2D2D"/>
                </a:solidFill>
              </a:rPr>
              <a:t>Play it: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21D"/>
                </a:solidFill>
              </a:rPr>
              <a:t>ride the run through the primaries, sell near 99¢ at the convention, recycle into the general-election markets. The presidency bet does NOT converge early — it lives to Election Night.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trade — the all-in cost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121D"/>
                </a:solidFill>
              </a:rPr>
              <a:t>Price + fee = all-in cost. On candidate longshots Polymarket usually wins — until it overshoots.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1EDE2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21D"/>
                </a:solidFill>
              </a:rPr>
              <a:t>Earlier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2011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 12.4¢ (8.0×)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Kalshi 15.9¢ (6.3×)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05256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6B4F"/>
                </a:solidFill>
              </a:rPr>
              <a:t>Polymarket — by 28%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1EDE2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20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21D"/>
                </a:solidFill>
              </a:rPr>
              <a:t>After Ossoff rallied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3383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 14.9¢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3383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Kalshi 14.8¢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0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F2D2D"/>
                </a:solidFill>
              </a:rPr>
              <a:t>Kalshi — Poly overshot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i="1" dirty="0">
                <a:solidFill>
                  <a:srgbClr val="6F6A63"/>
                </a:solidFill>
              </a:rPr>
              <a:t>The optimizer flips venues the instant the gap flips. Kalshi also carries a 'safety tax' — you pay more, but get a regulated payout and cleaner records.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catch — who holds your money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023360"/>
          </a:xfrm>
          <a:prstGeom prst="roundRect">
            <a:avLst>
              <a:gd name="adj" fmla="val 3182"/>
            </a:avLst>
          </a:prstGeom>
          <a:solidFill>
            <a:srgbClr val="F1EDE2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KALSHI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6F6A63"/>
                </a:solidFill>
              </a:rPr>
              <a:t>US · CFTC-regulated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4F"/>
                </a:solidFill>
              </a:rPr>
              <a:t>YOU BET VS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9535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121D"/>
                </a:solidFill>
              </a:rPr>
              <a:t>Clearinghouse guarantees payout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4F"/>
                </a:solidFill>
              </a:rPr>
              <a:t>YOUR CASH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8221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121D"/>
                </a:solidFill>
              </a:rPr>
              <a:t>Segregated USD at JPMorgan &amp; BNY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4F"/>
                </a:solidFill>
              </a:rPr>
              <a:t>SHUTDOWN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4690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121D"/>
                </a:solidFill>
              </a:rPr>
              <a:t>Lower shutdown risk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394960" cy="4023360"/>
          </a:xfrm>
          <a:prstGeom prst="roundRect">
            <a:avLst>
              <a:gd name="adj" fmla="val 3182"/>
            </a:avLst>
          </a:prstGeom>
          <a:solidFill>
            <a:srgbClr val="F1EDE2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POLYMARKET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9224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6F6A63"/>
                </a:solidFill>
              </a:rPr>
              <a:t>Offshore + new US entity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0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A3F"/>
                </a:solidFill>
              </a:rPr>
              <a:t>YOU BET VS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9535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121D"/>
                </a:solidFill>
              </a:rPr>
              <a:t>Smart contract + oracle (UMA)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3566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A3F"/>
                </a:solidFill>
              </a:rPr>
              <a:t>YOUR CASH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38221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121D"/>
                </a:solidFill>
              </a:rPr>
              <a:t>USDC you self-custody, no insurance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A3F"/>
                </a:solidFill>
              </a:rPr>
              <a:t>SHUTDOWN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4690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121D"/>
                </a:solidFill>
              </a:rPr>
              <a:t>Mixed: geo-block + state pushback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2D2D"/>
                </a:solidFill>
              </a:rPr>
              <a:t>Also: all three bets rise and fall on one thing — Ossoff's standing. It's one factor, not three. Cap it. Neither venue is FDIC/SIPC insured.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Taxes — pick the right bucket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7121D"/>
                </a:solidFill>
              </a:rPr>
              <a:t>No IRS guidance yet. Four possible treatments; our position: default to capital gains, earn it by trading, avoid the poles.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585216"/>
          </a:xfrm>
          <a:prstGeom prst="rect">
            <a:avLst/>
          </a:prstGeom>
          <a:solidFill>
            <a:srgbClr val="17121D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03120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Treatment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06440" y="210312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Rate feel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372600" y="210312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Verdict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11064240" cy="585216"/>
          </a:xfrm>
          <a:prstGeom prst="rect">
            <a:avLst/>
          </a:prstGeom>
          <a:solidFill>
            <a:srgbClr val="F1EDE2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06624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21D"/>
                </a:solidFill>
              </a:rPr>
              <a:t>Capital gains (§1221)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06440" y="270662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21D"/>
                </a:solidFill>
              </a:rPr>
              <a:t>LT 0/15/20% if held &gt;1yr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72600" y="270662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F6B4F"/>
                </a:solidFill>
              </a:rPr>
              <a:t>Our default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11064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10128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21D"/>
                </a:solidFill>
              </a:rPr>
              <a:t>Ordinary income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06440" y="3310128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21D"/>
                </a:solidFill>
              </a:rPr>
              <a:t>10–37%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72600" y="3310128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21D"/>
                </a:solidFill>
              </a:rPr>
              <a:t>Conservative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11064240" cy="585216"/>
          </a:xfrm>
          <a:prstGeom prst="rect">
            <a:avLst/>
          </a:prstGeom>
          <a:solidFill>
            <a:srgbClr val="F1EDE2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1363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21D"/>
                </a:solidFill>
              </a:rPr>
              <a:t>Section 1256 (60/40)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06440" y="391363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21D"/>
                </a:solidFill>
              </a:rPr>
              <a:t>~27% blended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72600" y="391363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F2D2D"/>
                </a:solidFill>
              </a:rPr>
              <a:t>Aggressive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517136"/>
            <a:ext cx="11064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517136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21D"/>
                </a:solidFill>
              </a:rPr>
              <a:t>Gambling (§165(d))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06440" y="451713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21D"/>
                </a:solidFill>
              </a:rPr>
              <a:t>Ordinary + 90% loss cap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72600" y="4517136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F2D2D"/>
                </a:solidFill>
              </a:rPr>
              <a:t>Avoid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6F6A63"/>
                </a:solidFill>
              </a:rPr>
              <a:t>Favor Kalshi for clean records; trade the secondary market to support capital treatment; harvest losses (no wash-sale); keep exam-grade records. Not tax advice.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9A3F"/>
                </a:solidFill>
              </a:rPr>
              <a:t>The takeaway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bet on politicians. We price probabilities and trade the errors.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1E8"/>
                </a:solidFill>
              </a:rPr>
              <a:t>A logical rule the market must obey — our free-money alarm.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1E8"/>
                </a:solidFill>
              </a:rPr>
              <a:t>A ~52% figure that looks off — the hedged 'wedge.'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1E8"/>
                </a:solidFill>
              </a:rPr>
              <a:t>The same bet cheaper on one venue — after fees and the overround.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1E8"/>
                </a:solidFill>
              </a:rPr>
              <a:t>Perishable edges, harvested early — venue, fees, tax &amp; risk all priced in.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3"/>
                </a:solidFill>
              </a:rPr>
              <a:t>Elite Four Capital · Political Event &amp; Relative-Value Desk · Not investment advice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2026-07-16T21:22:23Z</dcterms:created>
  <dcterms:modified xsi:type="dcterms:W3CDTF">2026-07-16T21:22:23Z</dcterms:modified>
</cp:coreProperties>
</file>